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9b8ef477c1434a" /><Relationship Type="http://schemas.openxmlformats.org/officeDocument/2006/relationships/extended-properties" Target="/docProps/app.xml" Id="R0dabfc34086046a7" /><Relationship Type="http://schemas.openxmlformats.org/officeDocument/2006/relationships/officeDocument" Target="/ppt/presentation.xml" Id="Rb907e54cb34349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54ab71bf504ec5"/>
  </p:sldMasterIdLst>
  <p:notesMasterIdLst>
    <p:notesMasterId xmlns:r="http://schemas.openxmlformats.org/officeDocument/2006/relationships" r:id="R4c90a1f97f0c43eb"/>
  </p:notesMasterIdLst>
  <p:sldIdLst>
    <p:sldId xmlns:r="http://schemas.openxmlformats.org/officeDocument/2006/relationships" id="256" r:id="R46bf9ca7d5b64fe0"/>
    <p:sldId xmlns:r="http://schemas.openxmlformats.org/officeDocument/2006/relationships" id="257" r:id="Rd0e0ec1b700e4bef"/>
    <p:sldId xmlns:r="http://schemas.openxmlformats.org/officeDocument/2006/relationships" id="258" r:id="R11538302c0314a67"/>
    <p:sldId xmlns:r="http://schemas.openxmlformats.org/officeDocument/2006/relationships" id="259" r:id="Rff2017c4fc5e4dc2"/>
    <p:sldId xmlns:r="http://schemas.openxmlformats.org/officeDocument/2006/relationships" id="260" r:id="R922c4b03b672490e"/>
    <p:sldId xmlns:r="http://schemas.openxmlformats.org/officeDocument/2006/relationships" id="261" r:id="R61db9a56cf4e4a55"/>
    <p:sldId xmlns:r="http://schemas.openxmlformats.org/officeDocument/2006/relationships" id="262" r:id="R3af640003c354f84"/>
    <p:sldId xmlns:r="http://schemas.openxmlformats.org/officeDocument/2006/relationships" id="263" r:id="Rdff8699a23b7464b"/>
    <p:sldId xmlns:r="http://schemas.openxmlformats.org/officeDocument/2006/relationships" id="264" r:id="R691277c1763b48aa"/>
    <p:sldId xmlns:r="http://schemas.openxmlformats.org/officeDocument/2006/relationships" id="265" r:id="R4885e82fc3d44b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f6126b00934960" /><Relationship Type="http://schemas.openxmlformats.org/officeDocument/2006/relationships/slideMaster" Target="/ppt/slideMasters/slideMaster1.xml" Id="R9354ab71bf504ec5" /><Relationship Type="http://schemas.openxmlformats.org/officeDocument/2006/relationships/notesMaster" Target="/ppt/notesMasters/notesMaster1.xml" Id="R4c90a1f97f0c43eb" /><Relationship Type="http://schemas.openxmlformats.org/officeDocument/2006/relationships/presProps" Target="/ppt/presProps.xml" Id="R743d35661e1a488a" /><Relationship Type="http://schemas.openxmlformats.org/officeDocument/2006/relationships/viewProps" Target="/ppt/viewProps.xml" Id="R7ba96e8663db4ff1" /><Relationship Type="http://schemas.openxmlformats.org/officeDocument/2006/relationships/tableStyles" Target="/ppt/tableStyles.xml" Id="R015479dc81074ad3" /><Relationship Type="http://schemas.openxmlformats.org/officeDocument/2006/relationships/slide" Target="/ppt/slides/slide1.xml" Id="R46bf9ca7d5b64fe0" /><Relationship Type="http://schemas.openxmlformats.org/officeDocument/2006/relationships/slide" Target="/ppt/slides/slide2.xml" Id="Rd0e0ec1b700e4bef" /><Relationship Type="http://schemas.openxmlformats.org/officeDocument/2006/relationships/slide" Target="/ppt/slides/slide3.xml" Id="R11538302c0314a67" /><Relationship Type="http://schemas.openxmlformats.org/officeDocument/2006/relationships/slide" Target="/ppt/slides/slide4.xml" Id="Rff2017c4fc5e4dc2" /><Relationship Type="http://schemas.openxmlformats.org/officeDocument/2006/relationships/slide" Target="/ppt/slides/slide5.xml" Id="R922c4b03b672490e" /><Relationship Type="http://schemas.openxmlformats.org/officeDocument/2006/relationships/slide" Target="/ppt/slides/slide6.xml" Id="R61db9a56cf4e4a55" /><Relationship Type="http://schemas.openxmlformats.org/officeDocument/2006/relationships/slide" Target="/ppt/slides/slide7.xml" Id="R3af640003c354f84" /><Relationship Type="http://schemas.openxmlformats.org/officeDocument/2006/relationships/slide" Target="/ppt/slides/slide8.xml" Id="Rdff8699a23b7464b" /><Relationship Type="http://schemas.openxmlformats.org/officeDocument/2006/relationships/slide" Target="/ppt/slides/slide9.xml" Id="R691277c1763b48aa" /><Relationship Type="http://schemas.openxmlformats.org/officeDocument/2006/relationships/slide" Target="/ppt/slides/slide10.xml" Id="R4885e82fc3d44b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66224b622c4a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07d47963b74ff1" /><Relationship Type="http://schemas.openxmlformats.org/officeDocument/2006/relationships/notesMaster" Target="/ppt/notesMasters/notesMaster1.xml" Id="R03b579205cb246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f41417c6fa4cf5" /><Relationship Type="http://schemas.openxmlformats.org/officeDocument/2006/relationships/notesMaster" Target="/ppt/notesMasters/notesMaster1.xml" Id="Rc248f2fe9f3a4c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e8295f6003403e" /><Relationship Type="http://schemas.openxmlformats.org/officeDocument/2006/relationships/notesMaster" Target="/ppt/notesMasters/notesMaster1.xml" Id="R9861590feb1647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7bd5d1d8544025" /><Relationship Type="http://schemas.openxmlformats.org/officeDocument/2006/relationships/notesMaster" Target="/ppt/notesMasters/notesMaster1.xml" Id="Rb07925c42b9b44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929b8beddd4c8d" /><Relationship Type="http://schemas.openxmlformats.org/officeDocument/2006/relationships/notesMaster" Target="/ppt/notesMasters/notesMaster1.xml" Id="R3dafbb47be3448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69946c125544dc" /><Relationship Type="http://schemas.openxmlformats.org/officeDocument/2006/relationships/notesMaster" Target="/ppt/notesMasters/notesMaster1.xml" Id="Rde6262b9185f48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c81f7735504879" /><Relationship Type="http://schemas.openxmlformats.org/officeDocument/2006/relationships/notesMaster" Target="/ppt/notesMasters/notesMaster1.xml" Id="Rde97f2ee2ecb49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a5a5eae1fe4b74" /><Relationship Type="http://schemas.openxmlformats.org/officeDocument/2006/relationships/notesMaster" Target="/ppt/notesMasters/notesMaster1.xml" Id="R61ac940382f647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050a953c3e4d0b" /><Relationship Type="http://schemas.openxmlformats.org/officeDocument/2006/relationships/notesMaster" Target="/ppt/notesMasters/notesMaster1.xml" Id="R0b80b8a9788a45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82e979a38147c3" /><Relationship Type="http://schemas.openxmlformats.org/officeDocument/2006/relationships/notesMaster" Target="/ppt/notesMasters/notesMaster1.xml" Id="R62717a4d987743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4d1a7979e42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eb6b45e76a4ef0" /><Relationship Type="http://schemas.openxmlformats.org/officeDocument/2006/relationships/slideLayout" Target="/ppt/slideLayouts/slideLayout1.xml" Id="R68859a3c924a4f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859a3c924a4f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9422d6a744d58" /><Relationship Type="http://schemas.openxmlformats.org/officeDocument/2006/relationships/notesSlide" Target="/ppt/notesSlides/notesSlide1.xml" Id="Rd10d7abee1544b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52dcf7b2b4f21" /><Relationship Type="http://schemas.openxmlformats.org/officeDocument/2006/relationships/notesSlide" Target="/ppt/notesSlides/notesSlide2.xml" Id="R3c19ad8faf9f4f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e162a48fd45f5" /><Relationship Type="http://schemas.openxmlformats.org/officeDocument/2006/relationships/notesSlide" Target="/ppt/notesSlides/notesSlide3.xml" Id="Rdcf4497ce7b041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e04410aa1440b" /><Relationship Type="http://schemas.openxmlformats.org/officeDocument/2006/relationships/notesSlide" Target="/ppt/notesSlides/notesSlide4.xml" Id="R358bbc5309da44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08ced43a14e38" /><Relationship Type="http://schemas.openxmlformats.org/officeDocument/2006/relationships/notesSlide" Target="/ppt/notesSlides/notesSlide5.xml" Id="Raf8b10d4bda042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76d19fe59429b" /><Relationship Type="http://schemas.openxmlformats.org/officeDocument/2006/relationships/notesSlide" Target="/ppt/notesSlides/notesSlide6.xml" Id="R1996b921f1d64e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07c32067240f0" /><Relationship Type="http://schemas.openxmlformats.org/officeDocument/2006/relationships/notesSlide" Target="/ppt/notesSlides/notesSlide7.xml" Id="Rc9d138b8095741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ccc8459504c2e" /><Relationship Type="http://schemas.openxmlformats.org/officeDocument/2006/relationships/notesSlide" Target="/ppt/notesSlides/notesSlide8.xml" Id="Rd9424edbed7a4e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f02ca0a674340" /><Relationship Type="http://schemas.openxmlformats.org/officeDocument/2006/relationships/notesSlide" Target="/ppt/notesSlides/notesSlide9.xml" Id="R79025703386648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19b8f9e56413f" /><Relationship Type="http://schemas.openxmlformats.org/officeDocument/2006/relationships/notesSlide" Target="/ppt/notesSlides/notesSlide10.xml" Id="Rd701e443166b4ac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319DDD-0656-4CD7-A096-B6C1B979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359C9-1AC5-4BF1-A3E5-56F416E5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F2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D1A50-2EA8-40C4-BDCD-5EE2C1F0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Bank-Grade Foreign Exchange Trading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4C82B-B4E5-4A61-AB7F-77D4E383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E08E"/>
                </a:solidFill>
                <a:latin typeface="Arial"/>
                <a:ea typeface="Arial"/>
                <a:cs typeface="Arial"/>
              </a:defRPr>
            </a:pPr>
            <a:r>
              <a:t>Executable quote locking, trade lifecycle control, risk checks, auditability, and real-time notification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FEDFE-C966-4FAF-AA2A-D9481CB7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78341-5744-4EFB-8D3E-89EB80EC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Scenario: customer sells 10,000 USD and buys EUR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A69C4-846B-47FE-87D3-AF3EFCB9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9623D-6687-47A9-8931-58849F06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Core workflow: rate lookup -&gt; quote TTL -&gt; idempotent trade -&gt; risk -&gt; settlement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6B708-A514-4E0B-8D52-391D6B76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068C8-2B61-4C31-BB30-3A9C1359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Architecture backbone: Next.js + FastAPI + PostgreSQL + Redis + WebSocket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31BB4-E5B3-49FD-8CC2-8C235E16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0EFA3-BAB4-4D53-ADCE-503E8133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Pitch split: product, frontend, backend/data, DevOps/roadmap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FB61D-649D-4C0D-AA5C-BE9A4DA6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5B740-C7D6-4A8F-A8CE-85F2C15E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33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Demo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449EF-434B-4E9F-B3F4-4AE5F152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8 minutes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E1ABA-0776-43D8-BE8D-171B2841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38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4 presenters, one coherent 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7124B-B2B1-4FA2-8824-F6CB9DFB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01712-E459-4A91-9F2A-08EC8609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62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MVP 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EDEA0-1571-4F0B-97DB-3F989C80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482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Must-have+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9D740-743C-4BC8-9865-315511AD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67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176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Bonus WebSocket and risk rules included</a:t>
            </a:r>
          </a:p>
        </p:txBody>
      </p:sp>
    </p:spTree>
    <p:extLst>
      <p:ext uri="{BB962C8B-B14F-4D97-AF65-F5344CB8AC3E}">
        <p14:creationId xmlns:p14="http://schemas.microsoft.com/office/powerpoint/2010/main" val="10310577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D364CE-DECF-4988-AFB8-7B319742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B32C4-85EA-4BC1-B449-B6A6E8BB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Bank-Grade FX Trading Platform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D7909-0C4A-42FF-A254-36D3336A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Why this MVP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4A686-0FF3-47DA-8BFB-3CB4F260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6A603-E778-4D4C-8CEA-532EB5F3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028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33579-0C44-4604-B317-C52E46C5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User need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48CF6-6B74-4D5B-B0B3-27F6D13B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956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Lock an executable FX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C463B-13F1-4F3B-8123-9C26509E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Avoid stale-market execution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8470A-8657-4926-BDC6-772C0F6F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3028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FC9B6-507A-4D2A-AA81-D1853BDE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7170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Bank need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76C11-EEEC-4994-BF3B-4D2CCB0B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574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9492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Control every transition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FFBD2-4AC9-459B-B895-72B58773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765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Risk, audit, and settlement traceability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93914-6E4E-44BC-9DF8-DD30EE7B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3028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886B2-7DD4-4DD9-B845-953D6275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Platform need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66A89-ECE0-48B3-B46E-67415B5B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4902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t>Scale to 100K 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E659B-0543-4F59-BB1A-6AD91068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Stateless API plus cache and event pipeline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AB3C3-AB1B-456E-8B3B-0193772A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733C8-5878-4C9C-86E4-F1DE521C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95750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 platform is not a simple currency converter; it is a controlled trade execution system.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521F5-F972-41B5-AA9B-D56DDB50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10FE6F-6B66-45E5-B6A1-0782F167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72000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 MVP proves the hardest product moments: quote TTL, idempotency, state transition, and audit log.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E4D89A-101C-42C8-BF30-D02E23D7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6B8EE4-33D8-44E4-9886-4B23EC51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48250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 demo UI is designed like an institutional treasury dashboard, not a consumer finance page.</a:t>
            </a:r>
          </a:p>
        </p:txBody>
      </p:sp>
    </p:spTree>
    <p:extLst>
      <p:ext uri="{BB962C8B-B14F-4D97-AF65-F5344CB8AC3E}">
        <p14:creationId xmlns:p14="http://schemas.microsoft.com/office/powerpoint/2010/main" val="15958344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A253C2-4F92-4387-8C28-43407B13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9684F-64DC-41B2-A8AD-3EC0BC9B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Bank-Grade FX Trading Platform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6E8DD-EA87-46B9-987D-A61AB00E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End-to-end demo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DA5CB-927B-4817-897D-09141129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8C0E5-01C1-4571-AB2A-847C3E66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24645-0E28-4DD0-8B9E-A4279728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8CF01-503E-40D3-9FC1-2845032F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336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78FBA-B54D-4346-8648-82B4EA7D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76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BBC42-4880-4461-90C9-DD8E8F20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1F37F-39A7-4F95-BDF5-54095B7E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622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Search USD/EUR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2CE13-7164-4D59-AA01-E2F25E16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336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94C8A-BE7D-4037-9C68-39872C0E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74EBE-F088-442E-9FE7-3CCAA655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F2F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0370F-DDF6-41A4-B562-8A3D68F8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Get Quote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07F08-5C6F-4ADC-9DF1-13FF29D8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336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7261D-CFD9-47ED-BEA7-13843FD1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35A6E-0C32-4E08-B3B0-47842CB8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A0DF6-81D6-4EBC-9BBE-F50BD422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622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30s TTL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DD5D5F-95F0-47EF-86C1-2165C815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161AC-1FD5-4FC5-8697-7B212CBC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Submit Trade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D16958-0A9A-4F6A-AC8F-03322F7C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481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F83864-4706-4977-80CD-F96ECEF5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91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18A9B-7869-4E9F-9E35-1B616CEC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052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F2F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59E3AA-356A-4D48-9063-33A3BBBB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767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Risk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B32617-1F9A-4DBA-889D-DEA85B2D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481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63038D-46EB-4277-BC10-2E4F2C3D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91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18DD2D-E79D-4B26-95E6-ABEC1BEA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052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F4C8F-13A4-4662-94CD-2AF9B223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Confirm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0C4CD1-5BE1-46B2-9994-A471CAEA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481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FB3B0D-65F9-4AA7-8FDA-63D30659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0E5D4B-A180-4937-B41D-81AA1453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052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A14B21-A46C-4643-8C49-C946689B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767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Settle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F78424-859B-4149-9E7A-C18E3F6A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E08E"/>
                </a:solidFill>
                <a:latin typeface="Arial"/>
                <a:ea typeface="Arial"/>
                <a:cs typeface="Arial"/>
              </a:defRPr>
            </a:pPr>
            <a:r>
              <a:t>Success signal: after the trade reaches SETTLED, the trade record, notification center, and audit log all show the same truth.</a:t>
            </a:r>
          </a:p>
        </p:txBody>
      </p:sp>
    </p:spTree>
    <p:extLst>
      <p:ext uri="{BB962C8B-B14F-4D97-AF65-F5344CB8AC3E}">
        <p14:creationId xmlns:p14="http://schemas.microsoft.com/office/powerpoint/2010/main" val="20595177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E57A3F-FF0C-4095-B7A8-E25B8838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25419-682D-4808-9B09-9CD9E204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Bank-Grade FX Trading Platform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400D1-5E8C-43E1-9F9D-C4938E2B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Frontend: one workspace for the whole trade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66F59-D03C-42DE-ADA6-EDA6CF9E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DC7DD-00D5-4A81-A78F-78B0EB46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57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718E3-1505-46AE-ACC1-2A88FDF5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Market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B5ED8-5409-4685-95A1-BC0BD047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Live bid/ask chart, pair table, spread and movement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910A0-6F4F-4FE6-A722-F12EB91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457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C4B52-16D8-4375-B4AC-129AE095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Quote Panel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949E5-DCCF-4C8E-8E59-4060BE71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Currency selector, amount, executable rate, countdown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A7D1D-2FB5-4E38-9745-AFE5CC7B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457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BD1FD-443B-4DE5-83A1-4E61F1EB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Lifecycle Timeline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20B83-1F48-4DD3-B93A-F104F64F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CREATED -&gt; CONFIRMED -&gt; SETTLED with operator visibility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A3F585-78A6-4073-8EE7-F64D134F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457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F5D7A-3E39-4D3F-93AD-0B84F910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4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Records + 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AAA72-A167-4207-BBDD-F3CA276C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339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Trade table, status logs, notification stream</a:t>
            </a:r>
          </a:p>
        </p:txBody>
      </p:sp>
    </p:spTree>
    <p:extLst>
      <p:ext uri="{BB962C8B-B14F-4D97-AF65-F5344CB8AC3E}">
        <p14:creationId xmlns:p14="http://schemas.microsoft.com/office/powerpoint/2010/main" val="5043434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22A5FF-7B0B-465A-84D8-3746D61F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451A7-C5B3-4B59-83A9-765663B5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Bank-Grade FX Trading Platform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5A4CE-3C6F-4D9D-8762-EDBA8403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Core domain model and state machine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D29E0-3762-4C8F-B024-E849C879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D933C-CB99-4EDD-94F9-FCD3EBB9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F2F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EE469-0E4B-424F-8FDB-3F260653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Quote ACTIVE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B2E88-E3AA-4E1E-8825-654CD9E2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289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A912A-71A2-4474-84BA-E0FFDAD2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41155-DAC9-4AD2-ADC4-D44932FF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8600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F0D60-A0DC-42B4-8859-7C876E84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Quote USED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5F7CA-72DC-46C9-A266-966CAF37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2900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81823-8BE5-453B-AE35-8CDAD368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004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Quote EXPIRED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796BB7-8CDD-4A44-ADA8-4A334D89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Quote cannot be traded after TTL reaches zero.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8B127-D26C-4C0C-A958-DA0382AC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83269-7A74-44C3-8C5B-9AFC858D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CREATED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E1AA7-9DA9-46DA-A86A-FA239DE3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AB3C1-B0E9-4E44-99D7-B0D2744A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8CA4A-16A6-4980-9156-A70B828D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DBCC8-4F0B-467D-A958-0E8F86A4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859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QUOTE_LOCKED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A630E-2EC7-4499-8875-4E7D691D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F2F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C87E44-905F-44F8-AF97-2229F5AC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42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RISK_CHECK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D0488-BA38-4E69-9FEF-425DE415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ECC40D-B6AB-4A9F-866D-F4D25ED0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5ECCC1-B871-49FB-897F-81B2B749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99B60-0015-4F19-8C49-0E2E3706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42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CONFIRMED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9ABFB3-B0CE-4D2C-B583-92D6E2AF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0E5D81-E7FC-4396-9527-5CAEA60D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SETTLEMENT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EC2974-394B-4363-AA62-5CC8076A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430629-88AA-4948-AF4C-5F1177F1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25B3AD-9C48-4977-A07B-CF73FE47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E3C339-B307-444C-BF05-57FA3813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624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SETTLED</a:t>
            </a:r>
          </a:p>
        </p:txBody>
      </p:sp>
    </p:spTree>
    <p:extLst>
      <p:ext uri="{BB962C8B-B14F-4D97-AF65-F5344CB8AC3E}">
        <p14:creationId xmlns:p14="http://schemas.microsoft.com/office/powerpoint/2010/main" val="21192220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B9DDD7-68D8-4AF3-8F25-B090DC4D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C4EE7-D890-44D6-9AA0-9255E398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Bank-Grade FX Trading Platform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AE30B-B563-4A79-B5CB-8B43D313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Backend services and API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28D3A-25E2-44A7-99B4-8C9E8EC5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45DD4-338B-40FE-B279-15747733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A976B-0049-4D71-B785-6D3EEEC2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API Gateway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59761-36DB-483F-B3EC-EE2629B9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JWT, Pydantic validation, idempotency key, Swagger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E97B2-1297-49AC-9DF0-E15A3CA6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6215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3B4D5-BEA8-452B-B9A0-5B6E6FF7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FX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72813-42C5-4352-AE8C-AF99C459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Supported currencies, rate provider abstraction, tiered polling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28692-C598-4801-A92B-68E63247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6215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E7E06-BBD5-47F2-B965-C86C69A5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33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Quote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5C50B-401B-4A87-8AAE-F4D7A0E8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146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Executable rate, Decimal precision, Redis TTL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4DD05-1DB7-4955-85A3-D76C620A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28066-3265-4001-899C-28F5988E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Trade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34799-68A9-4E7D-A173-A5AB120F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State machine, status log, settlement adapter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9803F-58ED-42F3-BB60-C5FE50C0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0525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F4438-87B6-4603-A9E9-8C894745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76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Risk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4F53B-09F6-43E4-A278-BB248F20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577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Expiry, duplicate, limit, AML, sanctions, velocity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89A072-3409-4270-8DBA-BCBA9F2D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6A8D61-BAFA-4DA5-BAF3-B78AC269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76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Notification Service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7E9977-D0B2-4D82-A762-492E4527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577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Event bus fanout to WebSocket and notification table</a:t>
            </a:r>
          </a:p>
        </p:txBody>
      </p:sp>
    </p:spTree>
    <p:extLst>
      <p:ext uri="{BB962C8B-B14F-4D97-AF65-F5344CB8AC3E}">
        <p14:creationId xmlns:p14="http://schemas.microsoft.com/office/powerpoint/2010/main" val="12076726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D722B3-C0FB-4D6B-B6BE-83E1D25E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A78D4-2F75-46AC-90BD-277981A6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Bank-Grade FX Trading Platform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3C2C8-CAFB-46D9-83E8-6AD0C350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Data design for auditability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58879-2924-4A91-A549-E9F5A466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4F96C-A98E-468D-9273-CB1D6F86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CEEA1-A87C-4C20-B368-232EC6F8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954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currencies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D27D3-7F27-43B9-B241-88D94F29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4A12A-982B-449A-AF76-0238BDCC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95475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Supported active currency universe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5E746-C170-4279-AF41-A1DB0E26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84DDF-5EA9-4A19-AABD-E4FC3A98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05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fx_rates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D4483-A986-4141-B48A-ABAAC4F9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030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D1DA8-2997-47D9-A749-8A318AB2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05075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Provider rate snapshot with bid, ask, spread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2F7B3-C2C1-4B67-96A7-35E32023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DD030-45EA-4088-BCCF-80F7C9D7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14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quotes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46BB9-0BCB-433E-9AB1-8EE0418B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0990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1CD5A-625C-4695-812D-AF0E16F7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14675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Executable quote, amount, rate, target, TTL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AC31EC-84E6-4029-B83B-7D55943F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94792-5DE0-4755-9968-208DC648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242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trades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02DBA-C847-46E8-A248-B213F30C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1950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2CEE5-5FFD-401E-B546-FAE8E7AA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24275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Locked rate, status, risk score, settlement timestamps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84B12C-42BA-4D6E-8CD1-AAF6B95A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E6625-9A11-45FD-9EC4-83B2E45D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33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trade_status_logs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D76B7B-BE8A-4688-AF4B-0FCDD647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2910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AAE4DD-647A-4621-8FE9-E0614F43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33875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Immutable old_status -&gt; new_status transition record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948E3D-209A-4EF4-A985-01652899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CD2DEC-908A-44B0-81C9-2B051E53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434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notifications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A06A23-FD4C-4B2F-9716-2DAD0D0D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3870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528926-802C-4E55-9F55-AE0B50E1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43475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Customer and operator event delivery record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EFB264-F1D8-4D4F-B7B3-DE3D435E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E08E"/>
                </a:solidFill>
                <a:latin typeface="Arial"/>
                <a:ea typeface="Arial"/>
                <a:cs typeface="Arial"/>
              </a:defRPr>
            </a:pPr>
            <a:r>
              <a:t>Precision rule: never use float. Application uses Decimal; PostgreSQL stores NUMERIC(20,8).</a:t>
            </a:r>
          </a:p>
        </p:txBody>
      </p:sp>
    </p:spTree>
    <p:extLst>
      <p:ext uri="{BB962C8B-B14F-4D97-AF65-F5344CB8AC3E}">
        <p14:creationId xmlns:p14="http://schemas.microsoft.com/office/powerpoint/2010/main" val="10788697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F50E0E-3CBF-4111-BB59-A0327716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3AE38-B3D8-4476-8304-689FB6A1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Bank-Grade FX Trading Platform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FD1AC-444C-4765-AFBE-5E700CFC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DevOps and deployment backbone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F1E00-E57F-4E41-A394-33315C69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17149-0244-4033-8FD9-775848E1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FD8A6-BFD5-4F32-914A-A1F29593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Next.js 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0130B-DE10-48B9-81ED-F586BC2A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2890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300AE-1D80-42BB-8818-86D59BF7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D5D69-E9BC-44B6-A6B5-6091E9D2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F2F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38390-A9B6-4F42-8318-6B9494A1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574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94BDA-3469-4900-9641-5D50B70B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2890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B2457-A444-45D4-A184-75F3A8C6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E34BB-A2FC-481D-9A43-ACE1517B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860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99365-A00B-4627-8400-26D59E7E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B66F5-166B-49E8-A4AC-14A2B463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2890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92D4A-3549-47B2-9E52-007B1B26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3EDDD-4D2F-45E1-804A-04686B1A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796A3-6891-48E2-9533-4D9D2BFA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574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Redis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39515-D8FA-484C-8ADF-2D8449B6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880F9C-0C74-41BC-ACEE-01050E99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00500"/>
            <a:ext cx="910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Docker Compose demonstrates reproducible local infra: web, API, PostgreSQL, Redis.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95871-15EE-4B9D-A9AC-FBF1C0A9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33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BF6D7-6150-4DDF-A428-B21E4B55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910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Production path: managed Postgres, managed Redis, containerized API, CDN-hosted frontend.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25CFF6-FEB5-4C3B-8344-262FB65C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1F3009-066D-4C7D-BB30-8D1A704E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76800"/>
            <a:ext cx="910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Observability: request IDs, idempotency keys, trade_id correlation, state transition logs.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513C69-5CA2-4B62-82AA-09AAAAE6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1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A41012-4B16-400E-AAD1-6571DCF8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14950"/>
            <a:ext cx="910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Scalability path: Kafka, event sourcing, CQRS read models, multi-region active-active.</a:t>
            </a:r>
          </a:p>
        </p:txBody>
      </p:sp>
    </p:spTree>
    <p:extLst>
      <p:ext uri="{BB962C8B-B14F-4D97-AF65-F5344CB8AC3E}">
        <p14:creationId xmlns:p14="http://schemas.microsoft.com/office/powerpoint/2010/main" val="5971315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8F5CB5-4F9D-479A-B059-B915749F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54A9C-CB05-4C4C-89F4-E733C2F4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Bank-Grade FX Trading Platform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D4A06-BD46-4F5E-A977-6F71A25F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4-person pitch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683FD-143D-41F0-8930-5E459BAE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D70D8-B003-4996-B343-9D931E07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266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C859F-0DF9-4169-9DD9-7270F9A4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Speaker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565C0-A7DB-43AD-A863-8F79CEA2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Product +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37016-8A1C-4011-9316-7177CD7D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Explain customer story and why quote locking is the MVP center.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E726C-835F-4EDC-998E-1D011894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33600"/>
            <a:ext cx="2266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D4AF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E88BD-C869-48B5-AAC4-A2EBE6A6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812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Speaker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C04D1-DDFB-460B-B0F6-2C03B7B8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527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Frontend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8B112-FB64-4359-BF4E-367E0E6A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195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Run USD -&gt; EUR flow and show TTL, timeline, records, notifications.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ED739-CF5A-4CAC-A6B0-E9C4CF50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2266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CE8B7-4FC5-41A7-A526-57C1C3D6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Speaker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89277-E3EF-4150-97B5-EA633642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Backend +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4E1F74-F853-4C91-A772-D346D55A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195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Walk through APIs, Decimal precision, state machine, audit tables.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B9286-73C0-4A44-9C60-DBEEFEE8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33600"/>
            <a:ext cx="2266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2B36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CF7A9-5675-4DBE-87DF-B81CE10E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Speaker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7166E-2D3C-42A6-B4AE-752E6829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DevOps + roadmap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CD218-E43C-405B-9ADC-966F5980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195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41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Cover Docker, Redis/Postgres, WebSocket, scale and production plan.</a:t>
            </a:r>
          </a:p>
        </p:txBody>
      </p:sp>
    </p:spTree>
    <p:extLst>
      <p:ext uri="{BB962C8B-B14F-4D97-AF65-F5344CB8AC3E}">
        <p14:creationId xmlns:p14="http://schemas.microsoft.com/office/powerpoint/2010/main" val="3517698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5BBEE1-9788-4A4B-B6F9-C0E93935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6BEF4-09D3-441A-9EA1-0298A2A3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t>Bank-Grade FX Trading Platform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FC9B5-AE45-441D-A8D1-D68362FA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Close: MVP today, bank platform tomorrow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3147F-AB26-48CA-9641-E4D6C941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7DADF-9961-4EE0-8953-040B5EA4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FBAC5-0E4F-439A-9ADD-5CF4F645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33600"/>
            <a:ext cx="910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Demo proves the quote-to-settlement path and makes system correctness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70821-3E68-493B-9620-2B09F62E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C85E2-5A35-4CCD-AAC1-30E02C10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86050"/>
            <a:ext cx="910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Backend contract already maps to production services and database boundaries.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C7EB2-55A1-4E9B-BF35-4E98BF73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1525D-69B2-432B-9893-D7511B70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0"/>
            <a:ext cx="910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Risk, audit, idempotency, TTL, and notification design meet bank-grade foundations.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C873B-B534-4905-B18A-CA1A9E1F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47F16-D375-405B-BEA3-657A5A60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90950"/>
            <a:ext cx="910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Roadmap is incremental: provider integration, auth, persistent jobs, Kafka, CQRS, multi-region.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7AA7E-79C3-4AB8-B0A9-CD722FF6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F2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320D9-1351-44A1-B0F3-F60BE050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8433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Final demo line: this is not just a UI prototype; it is a production-shaped trading workflow.</a:t>
            </a:r>
          </a:p>
        </p:txBody>
      </p:sp>
    </p:spTree>
    <p:extLst>
      <p:ext uri="{BB962C8B-B14F-4D97-AF65-F5344CB8AC3E}">
        <p14:creationId xmlns:p14="http://schemas.microsoft.com/office/powerpoint/2010/main" val="1404928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2026-06-06T02:28:43.0000000Z</dcterms:created>
  <dcterms:modified xsi:type="dcterms:W3CDTF">2026-06-06T02:28:43.0000000Z</dcterms:modified>
</coreProperties>
</file>